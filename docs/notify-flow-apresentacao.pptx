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2d4e0ca53492d" /><Relationship Type="http://schemas.openxmlformats.org/officeDocument/2006/relationships/extended-properties" Target="/docProps/app.xml" Id="R7da8998292754278" /><Relationship Type="http://schemas.openxmlformats.org/officeDocument/2006/relationships/officeDocument" Target="/ppt/presentation.xml" Id="Rbdb65fa4597f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f1723dc25f4741"/>
  </p:sldMasterIdLst>
  <p:notesMasterIdLst>
    <p:notesMasterId xmlns:r="http://schemas.openxmlformats.org/officeDocument/2006/relationships" r:id="R6f387e5acea64281"/>
  </p:notesMasterIdLst>
  <p:sldIdLst>
    <p:sldId xmlns:r="http://schemas.openxmlformats.org/officeDocument/2006/relationships" id="256" r:id="Rc961c2c74dbc4c73"/>
    <p:sldId xmlns:r="http://schemas.openxmlformats.org/officeDocument/2006/relationships" id="257" r:id="Red274196de6c4c8f"/>
    <p:sldId xmlns:r="http://schemas.openxmlformats.org/officeDocument/2006/relationships" id="258" r:id="R2f97b9e4f0404439"/>
    <p:sldId xmlns:r="http://schemas.openxmlformats.org/officeDocument/2006/relationships" id="259" r:id="Rcdb0242278094760"/>
    <p:sldId xmlns:r="http://schemas.openxmlformats.org/officeDocument/2006/relationships" id="260" r:id="Ref9a36fb95684bc9"/>
    <p:sldId xmlns:r="http://schemas.openxmlformats.org/officeDocument/2006/relationships" id="261" r:id="Re3f230c2752543b7"/>
    <p:sldId xmlns:r="http://schemas.openxmlformats.org/officeDocument/2006/relationships" id="262" r:id="R6b99d20296714daf"/>
    <p:sldId xmlns:r="http://schemas.openxmlformats.org/officeDocument/2006/relationships" id="263" r:id="Rf135d5cd69a34f59"/>
    <p:sldId xmlns:r="http://schemas.openxmlformats.org/officeDocument/2006/relationships" id="264" r:id="R19ea7e1dd1c64079"/>
    <p:sldId xmlns:r="http://schemas.openxmlformats.org/officeDocument/2006/relationships" id="265" r:id="R9037c4738a434e42"/>
    <p:sldId xmlns:r="http://schemas.openxmlformats.org/officeDocument/2006/relationships" id="266" r:id="R33e685f44dd04384"/>
    <p:sldId xmlns:r="http://schemas.openxmlformats.org/officeDocument/2006/relationships" id="267" r:id="R4295d00b1a264032"/>
    <p:sldId xmlns:r="http://schemas.openxmlformats.org/officeDocument/2006/relationships" id="268" r:id="R87efa0f57b7f431d"/>
    <p:sldId xmlns:r="http://schemas.openxmlformats.org/officeDocument/2006/relationships" id="269" r:id="R7cefd0b7cc67488b"/>
    <p:sldId xmlns:r="http://schemas.openxmlformats.org/officeDocument/2006/relationships" id="270" r:id="R82944b1d29444765"/>
    <p:sldId xmlns:r="http://schemas.openxmlformats.org/officeDocument/2006/relationships" id="271" r:id="R6f5b8b6e65324e06"/>
    <p:sldId xmlns:r="http://schemas.openxmlformats.org/officeDocument/2006/relationships" id="272" r:id="R23608b8b85bd466f"/>
    <p:sldId xmlns:r="http://schemas.openxmlformats.org/officeDocument/2006/relationships" id="273" r:id="Rd0c0a420e74344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ffc463c857483f" /><Relationship Type="http://schemas.openxmlformats.org/officeDocument/2006/relationships/slideMaster" Target="/ppt/slideMasters/slideMaster1.xml" Id="R8df1723dc25f4741" /><Relationship Type="http://schemas.openxmlformats.org/officeDocument/2006/relationships/notesMaster" Target="/ppt/notesMasters/notesMaster1.xml" Id="R6f387e5acea64281" /><Relationship Type="http://schemas.openxmlformats.org/officeDocument/2006/relationships/presProps" Target="/ppt/presProps.xml" Id="R33ee36e5144c44d1" /><Relationship Type="http://schemas.openxmlformats.org/officeDocument/2006/relationships/tableStyles" Target="/ppt/tableStyles.xml" Id="R237f813d4ff94e65" /><Relationship Type="http://schemas.openxmlformats.org/officeDocument/2006/relationships/slide" Target="/ppt/slides/slide1.xml" Id="Rc961c2c74dbc4c73" /><Relationship Type="http://schemas.openxmlformats.org/officeDocument/2006/relationships/slide" Target="/ppt/slides/slide2.xml" Id="Red274196de6c4c8f" /><Relationship Type="http://schemas.openxmlformats.org/officeDocument/2006/relationships/slide" Target="/ppt/slides/slide3.xml" Id="R2f97b9e4f0404439" /><Relationship Type="http://schemas.openxmlformats.org/officeDocument/2006/relationships/slide" Target="/ppt/slides/slide4.xml" Id="Rcdb0242278094760" /><Relationship Type="http://schemas.openxmlformats.org/officeDocument/2006/relationships/slide" Target="/ppt/slides/slide5.xml" Id="Ref9a36fb95684bc9" /><Relationship Type="http://schemas.openxmlformats.org/officeDocument/2006/relationships/slide" Target="/ppt/slides/slide6.xml" Id="Re3f230c2752543b7" /><Relationship Type="http://schemas.openxmlformats.org/officeDocument/2006/relationships/slide" Target="/ppt/slides/slide7.xml" Id="R6b99d20296714daf" /><Relationship Type="http://schemas.openxmlformats.org/officeDocument/2006/relationships/slide" Target="/ppt/slides/slide8.xml" Id="Rf135d5cd69a34f59" /><Relationship Type="http://schemas.openxmlformats.org/officeDocument/2006/relationships/slide" Target="/ppt/slides/slide9.xml" Id="R19ea7e1dd1c64079" /><Relationship Type="http://schemas.openxmlformats.org/officeDocument/2006/relationships/slide" Target="/ppt/slides/slide10.xml" Id="R9037c4738a434e42" /><Relationship Type="http://schemas.openxmlformats.org/officeDocument/2006/relationships/slide" Target="/ppt/slides/slide11.xml" Id="R33e685f44dd04384" /><Relationship Type="http://schemas.openxmlformats.org/officeDocument/2006/relationships/slide" Target="/ppt/slides/slide12.xml" Id="R4295d00b1a264032" /><Relationship Type="http://schemas.openxmlformats.org/officeDocument/2006/relationships/slide" Target="/ppt/slides/slide13.xml" Id="R87efa0f57b7f431d" /><Relationship Type="http://schemas.openxmlformats.org/officeDocument/2006/relationships/slide" Target="/ppt/slides/slide14.xml" Id="R7cefd0b7cc67488b" /><Relationship Type="http://schemas.openxmlformats.org/officeDocument/2006/relationships/slide" Target="/ppt/slides/slide15.xml" Id="R82944b1d29444765" /><Relationship Type="http://schemas.openxmlformats.org/officeDocument/2006/relationships/slide" Target="/ppt/slides/slide16.xml" Id="R6f5b8b6e65324e06" /><Relationship Type="http://schemas.openxmlformats.org/officeDocument/2006/relationships/slide" Target="/ppt/slides/slide17.xml" Id="R23608b8b85bd466f" /><Relationship Type="http://schemas.openxmlformats.org/officeDocument/2006/relationships/slide" Target="/ppt/slides/slide18.xml" Id="Rd0c0a420e74344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bd8b2054a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acbdf93df04819" /><Relationship Type="http://schemas.openxmlformats.org/officeDocument/2006/relationships/notesMaster" Target="/ppt/notesMasters/notesMaster1.xml" Id="R45b1512bd6384b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8738d4a9843f0" /><Relationship Type="http://schemas.openxmlformats.org/officeDocument/2006/relationships/notesMaster" Target="/ppt/notesMasters/notesMaster1.xml" Id="Rc5cfe1ffc2234a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b51e96f0c4c88" /><Relationship Type="http://schemas.openxmlformats.org/officeDocument/2006/relationships/notesMaster" Target="/ppt/notesMasters/notesMaster1.xml" Id="R8d68cc54f156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7f1ddb3bf949f5" /><Relationship Type="http://schemas.openxmlformats.org/officeDocument/2006/relationships/notesMaster" Target="/ppt/notesMasters/notesMaster1.xml" Id="Rb7b88a5d09de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fa40ec5e274ab4" /><Relationship Type="http://schemas.openxmlformats.org/officeDocument/2006/relationships/notesMaster" Target="/ppt/notesMasters/notesMaster1.xml" Id="R2e6a803aab93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b264f4ea284e54" /><Relationship Type="http://schemas.openxmlformats.org/officeDocument/2006/relationships/notesMaster" Target="/ppt/notesMasters/notesMaster1.xml" Id="R57a1c4960f3e40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4f21e1df6342bb" /><Relationship Type="http://schemas.openxmlformats.org/officeDocument/2006/relationships/notesMaster" Target="/ppt/notesMasters/notesMaster1.xml" Id="R76bef8e01df944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f64218412e4ba4" /><Relationship Type="http://schemas.openxmlformats.org/officeDocument/2006/relationships/notesMaster" Target="/ppt/notesMasters/notesMaster1.xml" Id="Ra8b4f5de822343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dac80830574146" /><Relationship Type="http://schemas.openxmlformats.org/officeDocument/2006/relationships/notesMaster" Target="/ppt/notesMasters/notesMaster1.xml" Id="R79812eb2d55241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abdc8bb645422e" /><Relationship Type="http://schemas.openxmlformats.org/officeDocument/2006/relationships/notesMaster" Target="/ppt/notesMasters/notesMaster1.xml" Id="R0583113ffa0f43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ca2459dc3f4b39" /><Relationship Type="http://schemas.openxmlformats.org/officeDocument/2006/relationships/notesMaster" Target="/ppt/notesMasters/notesMaster1.xml" Id="R24360676287747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4534c9186c456b" /><Relationship Type="http://schemas.openxmlformats.org/officeDocument/2006/relationships/notesMaster" Target="/ppt/notesMasters/notesMaster1.xml" Id="R55d59255440c41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cc40184a5d4df5" /><Relationship Type="http://schemas.openxmlformats.org/officeDocument/2006/relationships/notesMaster" Target="/ppt/notesMasters/notesMaster1.xml" Id="Rebbdd9e958d347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370e7a0f7d4959" /><Relationship Type="http://schemas.openxmlformats.org/officeDocument/2006/relationships/notesMaster" Target="/ppt/notesMasters/notesMaster1.xml" Id="Reaa08afa0e1d4f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e0b63fa05f4f4e" /><Relationship Type="http://schemas.openxmlformats.org/officeDocument/2006/relationships/notesMaster" Target="/ppt/notesMasters/notesMaster1.xml" Id="R5bdfedb8282941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d4e018aaab4dcc" /><Relationship Type="http://schemas.openxmlformats.org/officeDocument/2006/relationships/notesMaster" Target="/ppt/notesMasters/notesMaster1.xml" Id="Rd4cef2ac55454d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e9a81cccf74613" /><Relationship Type="http://schemas.openxmlformats.org/officeDocument/2006/relationships/notesMaster" Target="/ppt/notesMasters/notesMaster1.xml" Id="R228570cad92d42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8d01bc473b4096" /><Relationship Type="http://schemas.openxmlformats.org/officeDocument/2006/relationships/notesMaster" Target="/ppt/notesMasters/notesMaster1.xml" Id="Rc5076cb6cea24c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b1c169fd149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4ba87844674b4a" /><Relationship Type="http://schemas.openxmlformats.org/officeDocument/2006/relationships/slideLayout" Target="/ppt/slideLayouts/slideLayout1.xml" Id="R249005420c43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005420c43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aeaf1799841e5" /><Relationship Type="http://schemas.openxmlformats.org/officeDocument/2006/relationships/notesSlide" Target="/ppt/notesSlides/notesSlide1.xml" Id="R7d9d281ce1a6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6a4af02f0442b" /><Relationship Type="http://schemas.openxmlformats.org/officeDocument/2006/relationships/notesSlide" Target="/ppt/notesSlides/notesSlide2.xml" Id="R64ab31778134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df3b8c3b2421c" /><Relationship Type="http://schemas.openxmlformats.org/officeDocument/2006/relationships/notesSlide" Target="/ppt/notesSlides/notesSlide3.xml" Id="R87f09a4399e24e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05fd559df4504" /><Relationship Type="http://schemas.openxmlformats.org/officeDocument/2006/relationships/notesSlide" Target="/ppt/notesSlides/notesSlide4.xml" Id="R2f773f1d42c9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b6a8ed6146cd" /><Relationship Type="http://schemas.openxmlformats.org/officeDocument/2006/relationships/image" Target="/ppt/media/image.png" Id="R44f14b34ed8f4fd9" /><Relationship Type="http://schemas.openxmlformats.org/officeDocument/2006/relationships/notesSlide" Target="/ppt/notesSlides/notesSlide5.xml" Id="R077c640f0607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91893f256447f" /><Relationship Type="http://schemas.openxmlformats.org/officeDocument/2006/relationships/notesSlide" Target="/ppt/notesSlides/notesSlide6.xml" Id="Rb9e916906774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2a69489314046" /><Relationship Type="http://schemas.openxmlformats.org/officeDocument/2006/relationships/image" Target="/ppt/media/image2.png" Id="R969a5ee8b4254792" /><Relationship Type="http://schemas.openxmlformats.org/officeDocument/2006/relationships/notesSlide" Target="/ppt/notesSlides/notesSlide7.xml" Id="Rd289ff25c3ac45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1056ff5dd4c49" /><Relationship Type="http://schemas.openxmlformats.org/officeDocument/2006/relationships/image" Target="/ppt/media/image3.png" Id="R72fcb977d1954b6b" /><Relationship Type="http://schemas.openxmlformats.org/officeDocument/2006/relationships/notesSlide" Target="/ppt/notesSlides/notesSlide8.xml" Id="Rce99a1fcdd0a4f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68112a0a848b8" /><Relationship Type="http://schemas.openxmlformats.org/officeDocument/2006/relationships/notesSlide" Target="/ppt/notesSlides/notesSlide9.xml" Id="Rdc631b64276a48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d4a210a64fb6" /><Relationship Type="http://schemas.openxmlformats.org/officeDocument/2006/relationships/notesSlide" Target="/ppt/notesSlides/notesSlide10.xml" Id="R4b3047bff53042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3aba3a1df4d5d" /><Relationship Type="http://schemas.openxmlformats.org/officeDocument/2006/relationships/notesSlide" Target="/ppt/notesSlides/notesSlide11.xml" Id="R6025c041f1e34b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b21bb46e642a8" /><Relationship Type="http://schemas.openxmlformats.org/officeDocument/2006/relationships/notesSlide" Target="/ppt/notesSlides/notesSlide12.xml" Id="R91f60aa987974f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63b93cfa4bb5" /><Relationship Type="http://schemas.openxmlformats.org/officeDocument/2006/relationships/image" Target="/ppt/media/image4.png" Id="Rcd3b379cc347493d" /><Relationship Type="http://schemas.openxmlformats.org/officeDocument/2006/relationships/notesSlide" Target="/ppt/notesSlides/notesSlide13.xml" Id="R2d239087e9cf4d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6fe5bcbff4d54" /><Relationship Type="http://schemas.openxmlformats.org/officeDocument/2006/relationships/notesSlide" Target="/ppt/notesSlides/notesSlide14.xml" Id="Rf94560af8fa846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a5b1fd1f24147" /><Relationship Type="http://schemas.openxmlformats.org/officeDocument/2006/relationships/notesSlide" Target="/ppt/notesSlides/notesSlide15.xml" Id="R2988eb8427d742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0bffcbd3b4eff" /><Relationship Type="http://schemas.openxmlformats.org/officeDocument/2006/relationships/notesSlide" Target="/ppt/notesSlides/notesSlide16.xml" Id="Re8cb67998e4f4e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e0661671b47ba" /><Relationship Type="http://schemas.openxmlformats.org/officeDocument/2006/relationships/notesSlide" Target="/ppt/notesSlides/notesSlide17.xml" Id="R7f24ef239f8249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2aac7fe034baf" /><Relationship Type="http://schemas.openxmlformats.org/officeDocument/2006/relationships/notesSlide" Target="/ppt/notesSlides/notesSlide18.xml" Id="R6c6a76d368894f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3-1">
            <a:extLst xmlns:a="http://schemas.openxmlformats.org/drawingml/2006/main">
              <a:ext uri="{FF2B5EF4-FFF2-40B4-BE49-F238E27FC236}">
                <a16:creationId xmlns:a16="http://schemas.microsoft.com/office/drawing/2014/main" id="{C7F04D70-A920-4E19-8B48-9CB2BFC0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Notify Flow
sem atalhos frágeis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0A595AE-C298-4D51-9156-01F1132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Tutorial, requisitos, arquitetura e histórias de usuário para notificações multicanal com consentimento.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A40BD6-13BB-466F-B1BC-FD202AE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GUIA TÉCNICO E FUNCIONAL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13832-A0A4-4FB2-8929-9B7DDFF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98E26-B5FF-4DA2-8E74-C3880F3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625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BFE8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A86E5-08F1-46E0-ABDD-A180101C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29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8508E-37EC-4FF6-8954-4A2460B8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29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0613D-933E-4D5A-B34A-FEFBBDB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29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C2DBA-0158-4A3A-9BEF-A5ADFF87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8105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4F1D0-19C8-46E7-AAAF-DC76AD95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9057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API OFICIAL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C14B3-30D5-425F-BB98-0AC648D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Telegram · Gmail · filas · webhooks · tempo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EB6C4-F634-4C44-BC97-5CF9A4E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TCC / MVP · 2026</a:t>
            </a:r>
          </a:p>
        </p:txBody>
      </p:sp>
    </p:spTree>
    <p:extLst>
      <p:ext uri="{BB962C8B-B14F-4D97-AF65-F5344CB8AC3E}">
        <p14:creationId xmlns:p14="http://schemas.microsoft.com/office/powerpoint/2010/main" val="65080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0945D-97C0-47CD-9A5B-EDAC036B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F19D6-EA64-4DC4-BF44-FB0A2823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DECISÃO ARQUITETURAL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A4A49-5959-4EC3-AA36-82AEB040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O problema: notificar sem expor o número do administrador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164C7-8688-4020-B29C-8C9C32E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A API oficial reduz o risco operacional; consentimento, qualidade e políticas continuam obrigatórios.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DE11E-D08F-47A7-8BF9-B7AC72C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CB1B2-FD89-4915-8F67-DD69CBF0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678F1-FFDC-4A32-A2D1-94713FBB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429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34D90-D8F1-4BC0-A26F-C82687A6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EAD83-1023-40E1-A4C8-352401C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574BA-358C-489C-BDD1-5FE9865F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WhatsApp Cloud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72ACE-B725-4D60-A8DC-35F66AC9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AD895-2459-40BA-924D-DF01065F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CANAL DE CAMPANHA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5E1E8-51DC-4F0E-9B95-E6621A81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56D4A-7E54-47DA-B6B9-B465A419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Provedor oficial da Meta; templates aprovados iniciam conversas.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8CEB4-7712-47C8-8378-778389DC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D120F-46C4-4D44-BFC8-4A8B939C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Webhook registra mensagens, status e evidência de opt-in.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626DD-8968-437A-81A1-87738092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F8D48-6C53-4263-9E17-C6D5D7FA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Fila, retentativas e logs tornam a entrega auditável.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EFE7F-73B3-4E90-8039-6D017BA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9EB42-98E7-4E17-81AB-2AFEF77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Menor risco técnico não significa imunidade a bloqueios ou políticas.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ABFDE-E054-400E-9382-80E2CF5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5238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D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C5E51-5BAB-458E-B44D-A2E2286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A6858-5BED-447E-BB2B-BB2A70EE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AA85D-A8F0-4F81-9B38-A3B3798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WhatsApp Web (opcional)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3EB17-D939-485A-9F36-71F8124B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7A418-42B5-4497-B6C5-694B65BB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0507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4A5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4A57"/>
                </a:solidFill>
                <a:latin typeface="Arial"/>
                <a:ea typeface="Arial"/>
                <a:cs typeface="Arial"/>
              </a:rPr>
              <a:t>MONITORAMENTO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B783E-B88E-4FDF-94F2-9B0F4B82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1DF43-D00F-4590-9D84-9D191F44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Sessão QR com whatsapp-web.js para acompanhar novas conversas.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B5ACA-E310-47F2-BDAB-DF16AA45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C2F3A-3F08-469E-A138-7A4CB9F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Não envia disparos, grupos ou templates de campanha.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A5AA8-D111-49F3-AD55-926B54B2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8E670-BBD8-4A92-9B3B-411FD698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Resposta individual só após autorização explícita do contato.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209B1E-5D7F-46AD-ACD6-F3BA307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EC062-8EB3-46EE-900E-C0EADA2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Guardrail evita automatizar o número pessoal do administrador.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474A53-1470-41D5-8E40-F2DE484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72150"/>
            <a:ext cx="88773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95DCEA-7850-4E64-B1D8-792CD3E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49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Gargalo resolvido: integração oficial + consentimento verificável + operação resiliente.</a:t>
            </a:r>
          </a:p>
        </p:txBody>
      </p:sp>
    </p:spTree>
    <p:extLst>
      <p:ext uri="{BB962C8B-B14F-4D97-AF65-F5344CB8AC3E}">
        <p14:creationId xmlns:p14="http://schemas.microsoft.com/office/powerpoint/2010/main" val="618499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115CD-0286-47AA-9259-C4C54613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7447D-076C-4D9F-A8C6-8775FFBC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MATRIZ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3B470-782D-4B6D-A81C-110A4A5D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Quatro canais, responsabilidades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2CEC-E491-4D2A-8CF0-1E63F31C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Campanhas usam WhatsApp Cloud, Telegram e Gmail. O WhatsApp Web permanece isolado.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DB257-6232-4F25-AF77-F1A057D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5E411-2481-40D7-87DA-8E61ED2C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476375"/>
                <a:gridCol w="1381125"/>
                <a:gridCol w="1762125"/>
                <a:gridCol w="1666875"/>
                <a:gridCol w="3067050"/>
              </a:tblGrid>
              <a:tr h="7429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Canal</a:t>
                      </a:r>
                    </a:p>
                  </a:txBody>
                  <a:tcPr marL="91440" marR="91440" marT="45720" marB="45720">
                    <a:solidFill>
                      <a:srgbClr val="08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08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Entrada</a:t>
                      </a:r>
                    </a:p>
                  </a:txBody>
                  <a:tcPr marL="91440" marR="91440" marT="45720" marB="45720">
                    <a:solidFill>
                      <a:srgbClr val="08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Campanhas</a:t>
                      </a:r>
                    </a:p>
                  </a:txBody>
                  <a:tcPr marL="91440" marR="91440" marT="45720" marB="45720">
                    <a:solidFill>
                      <a:srgbClr val="08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 real</a:t>
                      </a:r>
                    </a:p>
                  </a:txBody>
                  <a:tcPr marL="91440" marR="91440" marT="45720" marB="45720">
                    <a:solidFill>
                      <a:srgbClr val="083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principal</a:t>
                      </a:r>
                    </a:p>
                  </a:txBody>
                  <a:tcPr marL="91440" marR="91440" marT="45720" marB="45720">
                    <a:solidFill>
                      <a:srgbClr val="083B3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WhatsApp Cloud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Meta /messages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Webhook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Sim · template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Webhook + Socket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Opt-in; fora da janela, template aprovado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Telegram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Bot API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Webhook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Sim · texto/menu/mídia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Socket.IO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Usuário inicia o bot e pode revogar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Gmail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SMTP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Sem inbox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Sim · texto/HTML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Logs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Permissão de e-mail separada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WhatsApp Web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Resposta individual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Eventos novos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QR + Socket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294B47"/>
                          </a:solidFill>
                          <a:latin typeface="Arial"/>
                          <a:ea typeface="Arial"/>
                          <a:cs typeface="Arial"/>
                        </a:rPr>
                        <a:t>Somente monitor; contato autorizado</a:t>
                      </a:r>
                    </a:p>
                  </a:txBody>
                  <a:tcPr marL="91440" marR="91440" marT="45720" marB="45720">
                    <a:solidFill>
                      <a:srgbClr val="EDF9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FDEB9-E563-49E9-A5C7-6C66BC54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F2B3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473DD-87B0-4FBA-A026-1CBD0F4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Janela de 24 horas: quando aplicável, mensagens iniciadas pela empresa fora da janela exigem modelo aprovado pela Meta.</a:t>
            </a:r>
          </a:p>
        </p:txBody>
      </p:sp>
    </p:spTree>
    <p:extLst>
      <p:ext uri="{BB962C8B-B14F-4D97-AF65-F5344CB8AC3E}">
        <p14:creationId xmlns:p14="http://schemas.microsoft.com/office/powerpoint/2010/main" val="515755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18341E-DC48-4A02-A878-5D3C28CF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A97BF-D50E-4AD2-BC0C-861ED94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3964-EC5B-434B-B352-3FEE7478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Papéis claros e consentimento por canal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B6B13-9F43-4EC7-8827-484363CC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O convite apresenta os termos; a autorização nasce da ação do titular dentro do canal.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5E55C-79DE-4B77-89A2-68B0C8A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42E23-EBEA-4388-9BE5-1AF9DBA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E00D3-9D49-40DE-90D7-266A531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8E899-98A9-46D1-B27E-96460F3B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F7871-ABCA-4865-A993-AC67CE0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57375"/>
            <a:ext cx="771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8074E-2A0E-4010-B23F-890DD61E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 provedores, templates, grupos e campanhas; acompanha falhas e auditoria.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98319-AB76-4A47-9538-A55990A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787BD-B693-471E-80BA-338185B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410CF-B4D2-4D0E-BC59-05023F8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771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TITULAR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B15B7-4E02-470A-862E-C00AA48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Aceita termos, autoriza ou revoga cada canal e consulta os próprios registros.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EBFEB-75E9-4ADB-8B61-7C87202C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28275-5A05-4503-A0BE-6335658C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8E34A-44B0-4B31-91EC-ABFDA95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71975"/>
            <a:ext cx="771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PROVEDOR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8C3A5-910E-4FCD-8AD8-62DA54D5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767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Meta, Telegram e Google aplicam políticas, limites e respostas de entrega.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82EF8-5A5F-4DB6-9D2E-13880889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73342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418FB-B86C-45DE-8525-D84488E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Evidência mínima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76B81-A7A3-49C5-BA9C-2A14C5E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B6024-F579-4489-AB86-2EE4D22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5DD13-B6A3-4662-B09B-BB142E78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Convite e documentos aceitos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FCDF3-B6DE-4C18-9546-65426460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23A90-0A65-40C4-BB3C-EEDDFC3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4C1C8-842E-419A-9978-C280ED6F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AE791-E891-4BA3-9889-82DD77F4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C1A8DE-32B3-4A54-A5EA-1E8678FF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Comando dinâmico no canal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10CF1-86CB-4158-933B-2D5E4D54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337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27048-2295-41A5-8BC2-CB5A831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3852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01F1EB-5BD4-407A-92E3-6E5096AE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6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EE5F0-7353-460B-A0C1-B5AA2C6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2F596-CAB6-44A9-9FA8-9CACEFDD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Identidade correlacionada sem duplicação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861C75-2B8F-4F1D-ACAE-F92F7EDC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624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22B2E-4512-4B05-B8B9-F521CACC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671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F5D96-410D-45DA-899F-611495B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0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E7B4D7-CE8B-4EE2-8079-A60CC31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05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CE215-C7CD-4211-86F4-3C791AC9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94B47"/>
                </a:solidFill>
                <a:latin typeface="Arial"/>
                <a:ea typeface="Arial"/>
                <a:cs typeface="Arial"/>
              </a:rPr>
              <a:t>ConsentEvent com origem, data e 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C651E-51EC-40DB-A460-3EBA1A6A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972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F2B3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ADFFF-C706-45BB-A33D-E6D9E47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Sem comando válido: a conversa pode ser monitorada, mas o destino continua fora das campanhas e respostas.</a:t>
            </a:r>
          </a:p>
        </p:txBody>
      </p:sp>
    </p:spTree>
    <p:extLst>
      <p:ext uri="{BB962C8B-B14F-4D97-AF65-F5344CB8AC3E}">
        <p14:creationId xmlns:p14="http://schemas.microsoft.com/office/powerpoint/2010/main" val="117191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14b34ed8f4fd9"/>
          <a:stretch xmlns:a="http://schemas.openxmlformats.org/drawingml/2006/main"/>
        </p:blipFill>
        <p:spPr>
          <a:xfrm xmlns:a="http://schemas.openxmlformats.org/drawingml/2006/main">
            <a:off x="0" y="245745"/>
            <a:ext cx="12192000" cy="585216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D525B-5437-4379-AC84-A1F1A40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8803B-BC55-4BB4-A246-117F3837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Página recomendada para identidade e anúncios; não é requisito técnico universal para a Cloud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F1D21-0EF5-46D5-BC50-0D212167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086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2053D-6D58-4CB0-84CF-AC63C9C2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C0181-0FA8-45B6-BD85-BD99A0FB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META FOR DEVELOPERS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8FA4C-0D91-4CAB-AA1B-B632E20F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Do modo de teste ao go-live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73386-B557-46D0-A574-5E97ADE3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Teste controlado primeiro; produção exige ativos corretos, políticas e qualidade contínua.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D5B84-B0C4-41A7-A38F-71EBD35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25587-4F83-4269-A9AD-E7C52ECB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64CEE-CD5B-4B75-ADAB-DEE6376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428875" cy="2857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0DA4C-A854-4032-B314-6A1CE597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EA3EE-6C46-4856-94E6-E92CB456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105BB-C50E-4932-9621-0A3F34A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9B925-A6D0-46D9-AAAF-22DE85BE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WABA e número de teste, destinatários autorizados, hello_world e webhooks de teste.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9DE81-04C3-43D8-8879-8818B477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480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3333E-56F5-4675-8CBB-44CF2CA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52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180F-42A4-44A9-96A8-EE8F63A9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2428875" cy="2857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5DE77-77CF-4AA0-A8F0-3541D3D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8B1CC-E15D-44CA-AA57-09DD216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32416-0C12-411A-855E-DEA5545D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A6B89-14BF-4AD5-A3A8-BB76BEDA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Phone Number ID, token, callback HTTPS, verify token e assinatura do webhook.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9BAAA-2990-42CF-8119-6EF93DD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480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D74FA-A046-4E94-865F-1108CB36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52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DE4C2-8A11-49D7-8177-0F3C8AEB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2428875" cy="2857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72A2D-AC40-4D5F-A352-D865FAD5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2B0DA-7725-465F-BACB-6ED5667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D4534-20D9-4255-9D7F-454BF43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18CB4-3B42-4720-8607-63B748A2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Número comercial, dados legais, política de privacidade, app ao vivo e permissões.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82FF0-E1B9-449F-A319-FF454901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480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69A1C-6839-4AF8-A300-31F52EA2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52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E4977-E152-4A79-AA0C-EC78DA9A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428875" cy="2857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71ECA-1231-4778-AB8C-CA5CB79C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377A8-3340-40E4-812E-7AD330A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A3CACA-5D8D-4C66-A185-ED36867C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F75D3-7FA6-43E8-9F8D-6E3945A8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Verificação da empresa, qualidade, limites, cobrança e revisão contínua.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C4410-2188-4D59-8C57-A9F0C531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BCD2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78EAA-1269-43D3-94A5-4AD3C69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7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7B8"/>
                </a:solidFill>
                <a:latin typeface="Arial"/>
                <a:ea typeface="Arial"/>
                <a:cs typeface="Arial"/>
              </a:rPr>
              <a:t>Webhook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6D3E1E-E02B-4A01-BEC9-2548E787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GET valida challenge/verify token; POST recebe eventos e valida x-hub-signature-256.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4B70C-B76B-42AF-A1D9-26ADD6B3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E55A38-80B1-48A5-8144-E384F7A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Página e Business Portfolio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77BFF0-458B-4C70-8896-FCEE4B58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5305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Use a Página para identidade/governança e associe os ativos ao portfólio comercial correto.</a:t>
            </a:r>
          </a:p>
        </p:txBody>
      </p:sp>
    </p:spTree>
    <p:extLst>
      <p:ext uri="{BB962C8B-B14F-4D97-AF65-F5344CB8AC3E}">
        <p14:creationId xmlns:p14="http://schemas.microsoft.com/office/powerpoint/2010/main" val="394744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99C14-0D58-49D5-8B82-49D95A2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1AB86-34E1-4D7B-8E49-CDF0349E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OPERAÇÃO META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AAB4C-23D3-4EBA-B9C8-A8FD843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Limites e custos são variáveis — monitore a conta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492C6-3693-4907-91D6-489132C5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Exemplo capturado em 22/07/2026: a tela da conta indicava 250 → 2 mil → 10 mil → 100 mil → ilimitado.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B3E07-8122-4E21-BD3C-127C2A56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E52E2-E883-4491-A096-50A65C07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18FF3-CFDB-4881-8FA1-34AB8C0C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67625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a5ee8b4254792"/>
          <a:stretch xmlns:a="http://schemas.openxmlformats.org/drawingml/2006/main"/>
        </p:blipFill>
        <p:spPr>
          <a:xfrm xmlns:a="http://schemas.openxmlformats.org/drawingml/2006/main">
            <a:off x="533400" y="2145153"/>
            <a:ext cx="7400925" cy="34439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8F0E4-16B9-4405-A0A9-0089AF8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3048000" cy="44767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8C7B0-FF34-4A43-BFEE-B47FB4B5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383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Leia assim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9C90C-A187-42C4-9252-7BA3FF3F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34D07-BC4B-43B0-B2E0-52044227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2266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nível exibido é específico da conta, do país e da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B5831-5EF2-40B2-BED5-54C5C142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6F82A-8C34-467D-ACAD-D61930E4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2266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Meta pode exigir empresa verificada ou volume qualificado para ampliar.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14ECE-0365-4799-9BF5-89335B6C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25E7-CD63-4621-93A1-2CC51192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86200"/>
            <a:ext cx="2266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Preço depende de mercado e categoria da mensagem entregue.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3BA70-EEAD-4C7D-8A17-6DE69CE1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BF386-ABD7-4C50-B703-F7E2202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38675"/>
            <a:ext cx="2266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Inclua infraestrutura, domínio, armazenamento, suporte e número comercial no TCO.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167FF-C6E0-4D84-A1DC-13FA18D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6260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50F43-59DA-474C-B406-7D0170BF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57212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SEM PROMESSA DE CUSTO FIXO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EF95C-2B93-45EA-AC06-3505D3E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D49F1-BA9E-4DDC-856C-F75B36A4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Fontes: whatsappbusiness.com/products/platform-pricing · developers.facebook.com/docs/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F5678-9164-4746-A662-9043915D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0590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cb977d1954b6b"/>
          <a:stretch xmlns:a="http://schemas.openxmlformats.org/drawingml/2006/main"/>
        </p:blipFill>
        <p:spPr>
          <a:xfrm xmlns:a="http://schemas.openxmlformats.org/drawingml/2006/main">
            <a:off x="0" y="245745"/>
            <a:ext cx="12192000" cy="585216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6F4F1-7ECA-4758-9488-A080C62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7F9F5-237F-4A79-A5C2-C17518F2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06662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494AA22-FC52-479A-B1D7-D84990F1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E945528-BDB6-4F4E-B88D-2513FFA2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Templates oficiais: cadastro amigável, payload montado pela API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CC08F18A-F8A7-4F6F-AE88-3282748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2DB4F1B-44FD-40CD-954F-34CA2D73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jaspers_market_plain_text_v1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Exemplo de template sem parâmetros, em en_US, útil para validar a integração.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62AB681A-C457-417C-ABCC-D97F6415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26557E-89F3-4422-A36B-092B1EAB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914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verify_code_1 · pt_BR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Autenticação OTP. O parâmetro {{codigo}} alimenta body/button conforme o template aprovado.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66B7BDAF-60E3-4F18-A4C2-DA4F3F07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097D751-E9D3-4327-93E1-1B1341B9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13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Modelos adicionais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formulário cria components/parameters sem exigir JSON do usuário final.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5EA200C-F7CE-4590-A46A-0660C7F9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DDBA196-608F-4DAB-BB8E-633D3E89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22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jaspers_market_order_confirmation_v1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Confirmação de pedido com nome, número e data em parâmetros posicionais.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4CF319E-0B72-42A4-8C04-F6D7A55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Biblioteca inicial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Modelos fixos aparecem desde o primeiro uso e não podem ser excluídos. Novos nomes oficiais da Meta continuam editáveis pelo administrador.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FF142-B414-4652-8D28-7C54561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4475C-E67D-4C81-85BD-75AB2851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CFC21-0EA4-4C69-96FF-8A71D556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META TEMPLATES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7A16E-2492-4B8C-B1AB-A5F33BF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0611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A6FBDA6-88D9-458A-8ADB-D738F950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C4FA5DC-2630-4CF6-89CF-7F967D0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conteúdo respeita a capacidade de cada canal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7A8B41D-1EF9-478A-BC2F-8EB40D14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WhatsApp Cloud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Nome oficial + idioma + components/parameters. Sem JSON manual e sem mensagem rápida global.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C26F3C2-F97D-481E-9D1F-E8AD58B8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Telegram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Texto simples, imagem/vídeo por link validado e menus/submenus com botões e URLs.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0AADD8F-EB1C-490F-9EC9-31EBBD4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Gmail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Texto ou HTML sanitizado. Permissão de e-mail é independente dos demais canais.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4558F87-68FD-4B20-A32A-1BCABBA7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WhatsApp Web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Sem templates, grupos ou campanha. Apenas monitoramento e resposta individual autorizada.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77490-DCCA-4B9C-9BCA-473B12C0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577A-A706-4D98-8DB8-3B116C2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6D363-2D62-45D5-B473-A85BD853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CONTEÚDO POR CANAL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8FFC6-ADB1-45B3-93D5-D1320657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D865E-1850-40B6-97C5-47BA3DA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48375"/>
            <a:ext cx="3238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4A3B0-CBC0-4A17-A001-BF2EE6C3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0579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TEMPLATE OBRIGATÓRIO NO GLOBAL</a:t>
            </a:r>
          </a:p>
        </p:txBody>
      </p:sp>
    </p:spTree>
    <p:extLst>
      <p:ext uri="{BB962C8B-B14F-4D97-AF65-F5344CB8AC3E}">
        <p14:creationId xmlns:p14="http://schemas.microsoft.com/office/powerpoint/2010/main" val="1811739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3772BF-441B-4929-B4A6-C47BFB4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26AC0-D2AE-41BD-AAAF-B8349845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IDENTIDADE E PRIVACIDADE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9C9E-7B6D-4167-88FC-4D017D21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/meu-perfil: acesso seguro e controle do titular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98CAA-F623-4FEA-BD67-1462E39A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O mesmo código de seis dígitos pode chegar por e-mail, WhatsApp Cloud e Telegram — falhas são independentes.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CACB7-047C-4F76-939D-08D9E2CB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BA5F2-2C39-4A9B-9D22-AF8DAB3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8ADD2-8FEC-47C7-8692-1875395B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85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10781-B144-413E-B2A6-0973A2DF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BA11E-1432-4E6F-ABB0-5E6AFB99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F57BD-A261-420E-8205-D0547C9E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Identificar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2192E-5423-4595-8162-CF06F4B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E-mail ou telefone normalizado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59D1B-A6AD-4FF7-8F04-526A8919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479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15EE9-0651-492B-82A7-B8A035AF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5272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DE8F6-774E-40E5-AFF2-D0F9F7B8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38350"/>
            <a:ext cx="1885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E13C6-3584-4A7E-8BAF-DDC7D545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9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98EC1-A0CB-4899-9969-C7189B6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9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F1900-E445-4DF1-A412-7D69E73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Gerar OTP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79892-FAE2-4E19-B404-CC5EA434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Criptográfico · HMAC · 10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5B3B3-90E5-4A95-84A2-AB332F2B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479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03094-9B55-44DB-BB15-69B2C387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5272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603F3-4223-4A58-9C17-502FC25D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38350"/>
            <a:ext cx="1885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1BF40-CB31-4DE4-BEC6-706AEB3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6C7D5-EBD5-43CF-B98F-7154645B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5D325-5D01-42A2-9B73-1976FD80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Entregar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E5FBF-5329-4913-823B-0AEFD531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Gmail + Cloud + Telegram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556A4-9E09-4C9C-BE85-75273E3D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479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9571B-8F56-4DCD-8C5D-D1E9C2B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5272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E02A7-07C1-436F-A060-008B6335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1885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CAF86-DB51-4311-93E7-DC4DE8A1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9CA0D-9243-445B-BEE7-EFE6CF8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AB953-0B40-4690-BE9B-815C7F34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CA529B-D15E-4F93-B98A-8AA433AE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Até 5 tentativas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C5CB6A-4954-4CB8-8970-B53DC76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479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1F9D9-D3CA-4D25-8D8A-37A6FCD4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5272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CE27F-05CE-4AB9-8100-C6D84E37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18859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E022A-3AB6-4493-9E49-14BAD4F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CD48A0-6798-4808-8E37-9678033F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1674C2-1902-4687-8CA6-507E7E08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BB6B5E-3540-41E7-B070-6B8D317D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de perfil + logs próprios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C38A6C-C878-43F0-B740-09848D13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2578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1CCBE2-B2BE-4FDF-88CB-A4EECA0B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O titular consegue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C022DE-6E8A-40F1-A4DF-0825EF1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6B205F-FBC3-428A-989C-7BFCC51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Editar dados sem expor outras pessoas.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6D7F6-E433-4FFB-8C15-3010D109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B1484A-AABE-4292-AE2F-0F0F2DB4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Revogar e-mail/Telegram/WhatsApp separadamente.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33D277-C5F3-495B-8578-8F2AB612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449921-4202-4146-A04C-586EB6B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Ver somente os próprios disparos e canais.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39A3EB-F474-4760-AAB5-68534B16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76700"/>
            <a:ext cx="54483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BCD2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58C016-774F-4AD3-8242-4B93E91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77B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577B8"/>
                </a:solidFill>
                <a:latin typeface="Arial"/>
                <a:ea typeface="Arial"/>
                <a:cs typeface="Arial"/>
              </a:rPr>
              <a:t>Segurança aplicada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638DD9-5613-43D3-9E27-63BBE7D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3340D4-6FBF-4C61-AA84-FB1B70C1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Código não é persistido em texto puro.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562BF5-4C0C-486C-A7F5-9F44EBB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EBE2FD-9142-464F-A887-74BB1F3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Entrega em um provedor não depende do sucesso do outro.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EA555F-3180-4A17-8C2A-A9B3AB18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9202B1-C957-4361-B1D6-16819DA2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006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E-mail e telefone permanecem únicos no banco.</a:t>
            </a:r>
          </a:p>
        </p:txBody>
      </p:sp>
    </p:spTree>
    <p:extLst>
      <p:ext uri="{BB962C8B-B14F-4D97-AF65-F5344CB8AC3E}">
        <p14:creationId xmlns:p14="http://schemas.microsoft.com/office/powerpoint/2010/main" val="10036004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EDA5B3D-4CC4-4284-8CB8-5E32AB2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B8C0AE4-1F05-4B77-AC50-811D5EE5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Campanhas: selecionar o público antes de montar a fila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75BEDE9E-215A-4F8D-81C3-4C859752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F62DDC8-8E53-412F-AF6A-AC0D6A6B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632AE16-6716-4254-AA48-2F100C1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Grupo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Lista autorizada; inelegíveis aparecem no log com motivo e atalho de correção.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32CD5E2-5295-4602-AA1E-543E8A0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Global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Todos os canais do mesmo usuário; exige um template por canal selecionado.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CED7C4D0-97D8-49BE-A6CF-1B25A600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4EED28B-AE8A-4AD9-892F-E63905B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B0224BB-354F-46CF-A326-3F18CED5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16F3C0A-BB7F-4FA8-8B91-E451C06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Individual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 contato; escolha explícita de templates e canais disponíveis.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AEBAE97-F4B1-44B2-AA86-EA3C11E5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0A16EEF1-BDBC-439C-A85A-C419EE28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Regra comum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Cada destinatário entra somente nos canais autorizados e com template compatível.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resultado é agregado sem esconder falhas individuais.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0E1D9-849F-4FDA-AE35-92F671C1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4ABEB-50A4-483F-AF4C-A6E25A58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30CE1-E507-43D8-958D-0963BE84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30503-0411-4D4B-95FB-9621A81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86144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b379cc347493d"/>
          <a:stretch xmlns:a="http://schemas.openxmlformats.org/drawingml/2006/main"/>
        </p:blipFill>
        <p:spPr>
          <a:xfrm xmlns:a="http://schemas.openxmlformats.org/drawingml/2006/main">
            <a:off x="0" y="1905"/>
            <a:ext cx="12192000" cy="63398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BAAB2-FAE9-4B0B-BA6C-D4E4C6CA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223E6-3ED0-483C-B9C4-1D9F51D8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03402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86B38E-00CE-454A-89DF-0107980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1D80E-B5BB-4D32-A299-07CBA423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IMPLANTAÇÃO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FE048-98F1-4D61-AA26-71E77C53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.env, Docker Compose e Render Blueprint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D99E5-22C8-4502-BD9F-DE649DF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Segredos são injetados; o código conhece nomes de variáveis, nunca tokens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881F7-BAC6-409B-9F59-8091B2EC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232E2-2204-47BC-805F-5447A1DB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EE0FA-0D1A-4718-8657-AF3CF6D7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276600" cy="3714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A7F5F-78EB-4D2D-9269-DC7ACF5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C91C3-511E-40BB-A576-841E34E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621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436F8-61E2-4AB7-9AD3-81D374F9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302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302C"/>
                </a:solidFill>
                <a:latin typeface="Consolas"/>
                <a:ea typeface="Consolas"/>
                <a:cs typeface="Consolas"/>
              </a:rPr>
              <a:t>.env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EECB8-EDC5-47C3-A960-DCA32E1B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4B4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94B47"/>
                </a:solidFill>
                <a:latin typeface="Consolas"/>
                <a:ea typeface="Consolas"/>
                <a:cs typeface="Consolas"/>
              </a:rPr>
              <a:t>MONGODB_URI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F9530-74D2-47E3-86E9-BBC0997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REDIS_URL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71392-B73C-4257-B0A9-6997FE56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JWT_SECRET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7AD7C-FBC7-4AC0-953D-C4804258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PUBLIC_APP_URL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299FB-93BB-4A2D-8018-E28EECF9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TELEGRAM_* / WHATSAPP_* / GMAIL_*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B343C-72FA-4F30-BD0B-2024B6F3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276600" cy="3714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1F69C-6EA1-42E4-A815-42FEAC1E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723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1A5E4-09BC-4626-A3C1-E25E09B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621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A301D-4963-4BBF-854C-9500648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302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302C"/>
                </a:solidFill>
                <a:latin typeface="Consolas"/>
                <a:ea typeface="Consolas"/>
                <a:cs typeface="Consolas"/>
              </a:rPr>
              <a:t>docker-compose.yml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AEE78-8143-428E-83D1-EFBC661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94B47"/>
                </a:solidFill>
                <a:latin typeface="Arial"/>
                <a:ea typeface="Arial"/>
                <a:cs typeface="Arial"/>
              </a:rPr>
              <a:t>frontend · Nginx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EB294-80AB-471D-A232-A0143EC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67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api · Node/Express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95020-901C-4885-B822-B90B8537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mongo:7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FBEC4-43E5-40E8-8465-38612EEC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redis:7.4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FB350-61E5-473C-BB18-E63A3E8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244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volume da sessão WhatsApp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AFF18-D3A8-44B9-AB90-E2F2F75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62125"/>
            <a:ext cx="3276600" cy="3714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352D5-5BE7-4C28-87B7-C3A78EA6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723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64A67-2EA4-4707-8AEA-90AC6A95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621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B0EC56-4D99-49B2-9B63-6CFCA9E4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render.yaml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7F919-D9F8-498B-93EF-4C463C73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frontend público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74287-3B5F-42FB-BA09-8258FF36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privado chamado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F9717-2995-42D4-826B-D91AF2A6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 Key 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F18EC-F650-4F63-BF53-76D65BD1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Atlas externo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C8C5B-B95C-450D-8CBE-6483CE11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 /app/.wwebjs_auth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03278D-410A-45E1-95D9-B8B660DC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66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F2B34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B1BC6-9955-4E83-80C7-B66A26D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Render usa Blueprint YAML (render.yaml), não XML. PUBLIC_APP_URL deve apontar para o domínio real do frontend.</a:t>
            </a:r>
          </a:p>
        </p:txBody>
      </p:sp>
    </p:spTree>
    <p:extLst>
      <p:ext uri="{BB962C8B-B14F-4D97-AF65-F5344CB8AC3E}">
        <p14:creationId xmlns:p14="http://schemas.microsoft.com/office/powerpoint/2010/main" val="4236676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37F35D8-073B-4CDF-9875-A5346927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DB9C36A-34FC-4641-B4E8-503FF07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REST, webhook, Socket.IO e worker: cada interface tem um papel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73B9946-32BC-4834-B347-0A69BAC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AD10D87-5808-444F-8E61-6FB04F73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497DB62-5469-4ED3-8F88-A824AF5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248CCF1-CD9B-4688-A319-48560D8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COMANDO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7A9810D-3B85-4DE4-8979-0D4880DA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059C283-B2C6-452E-9100-BD36894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EXECUÇÃO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BCE1A39-C214-40A5-9BA4-FA07899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Webhook + Socket.IO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Provedor entra via HTTPS; o painel recebe atualização visual em tempo real.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074917E-918A-45F3-8249-BCF08AC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CRUD, configuração, campanhas, perfil e rotas autenticadas.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4FF44EF-9A2B-419F-9B0E-AD687DA2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BullMQ consome jobs, chama provedores, grava tentativa e consolida o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1E823-256C-4482-A047-2D0DC79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BD2A5-D07E-4223-84DF-8B8219C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75959-1CAF-4144-95E5-9C0D653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68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CONTRATOS DE EXECUÇÃO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DA485-EA51-4710-89FB-E3F5C385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F3620-4626-4092-A521-6CC00D8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962650"/>
            <a:ext cx="2647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DAFF1-85F1-45F9-974C-DAED8F0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972175"/>
            <a:ext cx="251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WEBHOOK ≠ WEBSOCKET</a:t>
            </a:r>
          </a:p>
        </p:txBody>
      </p:sp>
    </p:spTree>
    <p:extLst>
      <p:ext uri="{BB962C8B-B14F-4D97-AF65-F5344CB8AC3E}">
        <p14:creationId xmlns:p14="http://schemas.microsoft.com/office/powerpoint/2010/main" val="10380799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562392-41C0-4D7B-A10F-E751EE8C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E2227-D5AE-4340-AA02-1B864BB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CONFIABILIDADE E AUDITORIA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890A5-3F0F-4BE5-8754-CEF320FE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Redis e BullMQ tornam o disparo uma operação recuperável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A844A-2410-4F72-9170-EC07F6B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A resposta HTTP cria a intenção; o worker entrega cada destino e registra o que realmente ocorreu.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4A03F-949D-449B-9CC2-790BF8E7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BF210-4B10-469E-988D-CF32B07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8A050-7146-4C5A-92DB-4827511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924050" cy="1981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CFC00-30AF-4022-94A3-D6B75506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6E094-0801-47A1-A355-6E1CB2DB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13EF8-ACD4-45AB-9F80-2C4EA82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Enfileirar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AB69E-8996-49CC-9B1C-7201CD7D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Campanha vira jobs por contato/canal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4D462-A988-44B0-81C9-65BC82B3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67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D62D9-1021-4BFD-BFB9-8E224FC6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71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25A62-BC40-41F5-A212-98F43EE4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66900"/>
            <a:ext cx="1924050" cy="1981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55D36-C91E-4A0D-90B7-9B7C1EDA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FD42F-F0D1-4002-BAEB-3E8D9046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57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2EE17-C0C0-4AD6-A2D0-B27F81A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Consumir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CC137-74C3-48EB-8015-1336E91F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Concorrência controlada no 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F242C-0F00-4C22-A3F9-F3574280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67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F22B4-0821-481F-8B10-25449C6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71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2ED3A-D686-46E1-9005-26BC3E6B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1924050" cy="1981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DF0B5-DEE0-4313-B572-E13A318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65FBA-795A-4D48-BD84-7A19DE3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57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4EC2D-0CA7-463B-B5CB-310619A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60C02-D12E-4200-BA29-BD446DB4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Até 4 tentativas com backoff exponencial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83325-B98E-47F8-BCFA-F8A79AB8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67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B7BA4-51B7-4B34-9E39-43DCEEB0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71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389BE-39D1-4E49-855E-A6D27D5F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1924050" cy="1981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AE226-68DA-4BD8-AEC8-558662AB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069E4F-E0E0-4F7B-9D53-8B616942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20D6B-1C27-4DCF-9A12-90D2B157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Persistir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7E904D-F445-486D-A91B-CFCA0207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MongoDB guarda estado, erro e requestId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62A7F-77D5-4C15-A3DA-F0AE1ECB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6702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061AEC-FDA8-4B5B-9E55-CC3F517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71775"/>
            <a:ext cx="2381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F35F57-AA04-405D-9864-29529E5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1924050" cy="1981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A66133-43C0-4FF9-8C55-417F82C8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A0467E-E511-47C3-9E55-37CBDF4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CD628F-C442-48D8-BC9D-C9DA6C2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Notificar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CB23E-F585-4991-A361-5940607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Socket.IO atualiza painel e sino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74B2F0-516B-4CC0-A533-926515D9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0F9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F1D009-0AD5-4B01-92CC-B48EB4C7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22C215-8DDB-4A1B-8816-205185A6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jobs em paralelo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887458-282B-4CBF-B9BC-4DDB9C3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24350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3577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05D672-7177-4179-B323-2F008AC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767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3EEFE9-AF55-49FE-AF3A-5452E9E1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530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tentativas máximas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3D742B-A681-4BE7-A783-67C78D1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24350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F2B34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9E51FC-2C3C-4EC2-B3D0-5419F90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2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C78802-F879-4401-A0C8-2D198DF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backoff inicial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5BBC48-4FC3-4E7F-BCD6-5C3660A2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24350"/>
            <a:ext cx="2428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0F9B8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4E4D28-944D-416C-871F-E6488886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4767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60 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6C07A2-BF5B-40D4-AA57-AA06114E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530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4B4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94B47"/>
                </a:solidFill>
                <a:latin typeface="Arial"/>
                <a:ea typeface="Arial"/>
                <a:cs typeface="Arial"/>
              </a:rPr>
              <a:t>sweep de pendências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1A402F-57CD-491D-AFD0-E1C3D1DB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17A7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17A76"/>
                </a:solidFill>
                <a:latin typeface="Consolas"/>
                <a:ea typeface="Consolas"/>
                <a:cs typeface="Consolas"/>
              </a:rPr>
              <a:t>Logs úteis: campaignId · jobId · contactId · channel · attempt · providerMessageId · status · error · timestamps</a:t>
            </a:r>
          </a:p>
        </p:txBody>
      </p:sp>
    </p:spTree>
    <p:extLst>
      <p:ext uri="{BB962C8B-B14F-4D97-AF65-F5344CB8AC3E}">
        <p14:creationId xmlns:p14="http://schemas.microsoft.com/office/powerpoint/2010/main" val="14344858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066AF6-06E6-4CD5-8084-075E143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01B29-CCF5-482D-80F5-C4468D70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USER STORIES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21831-193B-4461-93E6-30FC3D3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Histórias de usuário orientam as regras, não só as telas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3C18E-7E25-40CF-A0A7-6443F2BF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A76"/>
                </a:solidFill>
                <a:latin typeface="Arial"/>
                <a:ea typeface="Arial"/>
                <a:cs typeface="Arial"/>
              </a:rPr>
              <a:t>Resumo dos comportamentos que definem sucesso e segurança do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4F046-185E-45DC-89AE-919F6081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1004C-C5DA-492D-9332-347D3251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6C18B-A3D4-4E82-B99C-0F33F0C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371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41A8A-58EC-4F73-B6AE-92B919D9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090BD-4959-4957-97CD-937AF10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TITULAR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CE8B7-0563-47C7-B8B1-7DEDB700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“Quero autorizar e revogar cada canal separadamente.”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DE284-0D0B-48ED-9D98-35B8F8AA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76400"/>
            <a:ext cx="3371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4A790-3CF9-42F0-9F49-8F864DEC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288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DC78B-21C0-453F-9FEF-58018F6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383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TITULAR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6AC11-6156-4DC3-B8C9-424130A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71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“Quero entrar em /meu-perfil e ver somente meus logs.”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F48D2-35C3-43DD-B990-E656C96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76400"/>
            <a:ext cx="3371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3E2F8-A648-4ED4-8E67-13965799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288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6652D-4A9A-40DD-8244-D583ACD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383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9B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9B83"/>
                </a:solidFill>
                <a:latin typeface="Arial"/>
                <a:ea typeface="Arial"/>
                <a:cs typeface="Arial"/>
              </a:rPr>
              <a:t>TITULAR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5F6AD-93F7-4BE8-83AE-1D727F0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“Quero vincular Telegram e WhatsApp sem criar duplicatas.”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3C099-9A41-4C91-8E40-6C74FED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3371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9E63B-03B1-4573-8A36-688D4D4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E94C3-1E61-4B4B-A23B-67110A66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3377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26035-35B3-42A7-936B-3B4FA8B2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“Quero configurar provedores sem um canal bloquear o outro.”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2C733-FA6C-41D3-9184-B6FFF954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3371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22B5E-D42F-4BD5-9A8C-9EC6B6C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80A9D-EF3D-47EC-9983-2DBB5E22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3377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1C487-F7D5-4D91-8050-F94B8B4B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715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“Quero enviar para pessoa, grupo ou todos os canais autorizados.”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22CC6-B818-41DC-9BA9-8AE004F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71850"/>
            <a:ext cx="33718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DF9F6"/>
          </a:solidFill>
          <a:ln xmlns:a="http://schemas.openxmlformats.org/drawingml/2006/main" w="11430">
            <a:solidFill>
              <a:srgbClr val="BFE8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BE9BD-9239-4BB7-855B-0B458E3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7BAC13-C032-4FAD-8E48-CE4EE86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53377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0F9A1-608A-440A-BC04-FF591EA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30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302C"/>
                </a:solidFill>
                <a:latin typeface="Arial"/>
                <a:ea typeface="Arial"/>
                <a:cs typeface="Arial"/>
              </a:rPr>
              <a:t>“Quero retentar falhas e explicar por que cada destino foi ignorado.”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2D5D4-C0FF-4548-8C05-43ED968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11430">
            <a:solidFill>
              <a:srgbClr val="083B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347B3-3866-4D9A-BDBC-3C265F82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00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C1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1AF14C-4F64-421E-BE5E-7EAE13A6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6735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3B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3B35"/>
                </a:solidFill>
                <a:latin typeface="Arial"/>
                <a:ea typeface="Arial"/>
                <a:cs typeface="Arial"/>
              </a:rPr>
              <a:t>GUARDRAIL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A9D4D-1F68-4C0B-A3A9-BF384D36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14950"/>
            <a:ext cx="893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WhatsApp Web: monitorar novas conversas e responder apenas contatos autorizados; nunca usar em campanha ou disparo em massa.</a:t>
            </a:r>
          </a:p>
        </p:txBody>
      </p:sp>
    </p:spTree>
    <p:extLst>
      <p:ext uri="{BB962C8B-B14F-4D97-AF65-F5344CB8AC3E}">
        <p14:creationId xmlns:p14="http://schemas.microsoft.com/office/powerpoint/2010/main" val="94185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-1">
            <a:extLst xmlns:a="http://schemas.openxmlformats.org/drawingml/2006/main">
              <a:ext uri="{FF2B5EF4-FFF2-40B4-BE49-F238E27FC236}">
                <a16:creationId xmlns:a16="http://schemas.microsoft.com/office/drawing/2014/main" id="{1452712C-624A-451D-8B54-DD2C73DC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Integração oficial.
Consentimento real.
Entrega auditável.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E740BB2-58CC-465D-9370-27F246EE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Homologar Meta.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Publicar render.yaml.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Monitorar qualidade.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51CE960-1252-4688-A7C5-29E5D72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NOTIFY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8F1F4-79B1-4C6A-9708-989C92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9E252-AA86-43B0-9301-1795FCC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7813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83B35"/>
          </a:solidFill>
          <a:ln xmlns:a="http://schemas.openxmlformats.org/drawingml/2006/main" w="0">
            <a:solidFill>
              <a:srgbClr val="083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493D7-C529-4663-962E-B98F3597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981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FC1A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FC1A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D8C3-EC46-48A3-B70D-2C462CE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OFICIAL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BEB8A-DC9F-44A8-80C9-A1BA535E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8137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C1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C1A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A39A6-AAE3-4AAA-BCB1-C82AB3CF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LGPD · FILAS · LOGS</a:t>
            </a:r>
          </a:p>
        </p:txBody>
      </p:sp>
    </p:spTree>
    <p:extLst>
      <p:ext uri="{BB962C8B-B14F-4D97-AF65-F5344CB8AC3E}">
        <p14:creationId xmlns:p14="http://schemas.microsoft.com/office/powerpoint/2010/main" val="2131945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2026-07-22T18:00:37.8260000Z</dcterms:created>
  <dcterms:modified xsi:type="dcterms:W3CDTF">2026-07-22T18:00:37.8260000Z</dcterms:modified>
</coreProperties>
</file>